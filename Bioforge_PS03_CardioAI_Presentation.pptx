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5303520" cy="4114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🏆 HEALTHNOVA 2026 | IEEE EMBS INNOVATION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BIOFORGE : CARDIO AI</a:t>
            </a:r>
          </a:p>
          <a:p>
            <a:pPr>
              <a:defRPr sz="1800" b="1">
                <a:solidFill>
                  <a:srgbClr val="00E5FF"/>
                </a:solidFill>
              </a:defRPr>
            </a:pPr>
            <a:r>
              <a:t>AI-Assisted Real-Time ECG Arrhythmia &amp; Myocardial Infarction Screening System</a:t>
            </a:r>
          </a:p>
          <a:p>
            <a:pPr>
              <a:defRPr sz="1300">
                <a:solidFill>
                  <a:srgbClr val="90A4AE"/>
                </a:solidFill>
              </a:defRPr>
            </a:pPr>
            <a:r>
              <a:t>Problem Statement PS-03: Accessible, Rapid &amp; Explainable ECG Screening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347472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E676"/>
                </a:solidFill>
              </a:defRPr>
            </a:pPr>
            <a:r>
              <a:t>87,234+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Clinical Beats Analyzed</a:t>
            </a:r>
          </a:p>
          <a:p>
            <a:pPr>
              <a:defRPr sz="1000">
                <a:solidFill>
                  <a:srgbClr val="90A4AE"/>
                </a:solidFill>
              </a:defRPr>
            </a:pPr>
            <a:r>
              <a:t>MIT-BIH + PTB Diagnostic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520440"/>
            <a:ext cx="3474720" cy="12801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6118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E5FF"/>
                </a:solidFill>
              </a:defRPr>
            </a:pPr>
            <a:r>
              <a:t>99.1%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Ensemble Model Accuracy</a:t>
            </a:r>
          </a:p>
          <a:p>
            <a:pPr>
              <a:defRPr sz="1000">
                <a:solidFill>
                  <a:srgbClr val="90A4AE"/>
                </a:solidFill>
              </a:defRPr>
            </a:pPr>
            <a:r>
              <a:t>5-Class Arrhythmia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520440"/>
            <a:ext cx="347472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6118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E676"/>
                </a:solidFill>
              </a:defRPr>
            </a:pPr>
            <a:r>
              <a:t>&lt; 5 ms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Inference Latency / Beat</a:t>
            </a:r>
          </a:p>
          <a:p>
            <a:pPr>
              <a:defRPr sz="1000">
                <a:solidFill>
                  <a:srgbClr val="90A4AE"/>
                </a:solidFill>
              </a:defRPr>
            </a:pPr>
            <a:r>
              <a:t>Real-Time WebSocket Streaming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TEAM BIOFORGE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Team Members: Aditya Singh Chauhan &amp; Shaik Mulla Muneer Ahamad</a:t>
            </a:r>
          </a:p>
          <a:p>
            <a:pPr>
              <a:defRPr sz="1100">
                <a:solidFill>
                  <a:srgbClr val="90A4AE"/>
                </a:solidFill>
              </a:defRPr>
            </a:pPr>
            <a:r>
              <a:t>Program: B.Tech Biotechnology (3rd Sem, 2nd Year)  |  Institution: Galgotias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Why Accessible &amp; Rapid ECG Screening Support is a Critical Global Necessity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The Clinical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Cardiovascular Diseases (CVDs) are the #1 global cause of mortality (17.9M deaths/year).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Early detection of cardiac arrhythmias &amp; Myocardial Infarction (MI) is life-saving, but requires expert electrocardiogram (ECG) interpretation.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Paramedics, rural clinicians, and junior medical officers often lack specialized electrophysiology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Who is Impacted?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Primary Healthcare Centers (PHCs) &amp; Tier 2/3 hospitals with zero on-duty cardiologists.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Remote &amp; Rural Screening Camps where patients wait days for external lab ECG reporting.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Emergency Triage Rooms facing delayed risk-stratification of acute cardiac episodes.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Why Automation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Standard 24-hr Holter ECG recordings capture over 100,000 heartbeats per patient.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Manual beat-by-beat examination is labor-intensive, error-prone, and leads to physician burnout.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Automated screening triages critical arrhythmias (PVCs, SVT) for immediate physician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A4AE"/>
                </a:solidFill>
              </a:defRPr>
            </a:pPr>
            <a:r>
              <a:t>Clinical Scope: BIOFORGE is engineered as a clinical triaging and decision-support screening platform — prioritizing high sensitivity for critical arrhythmias to aid qualified physician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EXISTING SOLUTIONS &amp; THE GAP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Bridging the Divide Between Expensive Hospital Equipment and Consumer Wearables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297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Traditional Approaches vs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300"/>
                </a:solidFill>
              </a:defRPr>
            </a:pPr>
            <a:r>
              <a:t>• Traditional 12-Lead Hospital Carts</a:t>
            </a:r>
          </a:p>
          <a:p>
            <a:pPr>
              <a:spcAft>
                <a:spcPts val="1000"/>
              </a:spcAft>
              <a:defRPr sz="1100">
                <a:solidFill>
                  <a:srgbClr val="90A4AE"/>
                </a:solidFill>
              </a:defRPr>
            </a:pPr>
            <a:r>
              <a:t>Accurate but bulky, expensive ($5,000+), stationary, and require immediate cardiologist availability.</a:t>
            </a:r>
          </a:p>
          <a:p>
            <a:pPr>
              <a:defRPr sz="1200" b="1">
                <a:solidFill>
                  <a:srgbClr val="FFB300"/>
                </a:solidFill>
              </a:defRPr>
            </a:pPr>
            <a:r>
              <a:t>• Consumer Wearables (Smartwatches)</a:t>
            </a:r>
          </a:p>
          <a:p>
            <a:pPr>
              <a:spcAft>
                <a:spcPts val="1000"/>
              </a:spcAft>
              <a:defRPr sz="1100">
                <a:solidFill>
                  <a:srgbClr val="90A4AE"/>
                </a:solidFill>
              </a:defRPr>
            </a:pPr>
            <a:r>
              <a:t>Single-lead optical photoplethysmography (PPG) or basic rhythm strip. High false positive rates; cannot differentiate AAMI beat morphologies.</a:t>
            </a:r>
          </a:p>
          <a:p>
            <a:pPr>
              <a:defRPr sz="1200" b="1">
                <a:solidFill>
                  <a:srgbClr val="FFB300"/>
                </a:solidFill>
              </a:defRPr>
            </a:pPr>
            <a:r>
              <a:t>• Black-Box Deep Learning Scripts</a:t>
            </a:r>
          </a:p>
          <a:p>
            <a:pPr>
              <a:spcAft>
                <a:spcPts val="1000"/>
              </a:spcAft>
              <a:defRPr sz="1100">
                <a:solidFill>
                  <a:srgbClr val="90A4AE"/>
                </a:solidFill>
              </a:defRPr>
            </a:pPr>
            <a:r>
              <a:t>Many research papers use deep CNNs that lack explainability, don't show beat timing context, and lack web deployment or clinical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The BIOFORGE Competitive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676"/>
                </a:solidFill>
              </a:defRPr>
            </a:pPr>
            <a:r>
              <a:t>✔ Full AAMI EC57 5-Class Categorization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Detects Normal (N), Supraventricular (S), Ventricular (V), Fusion (F), and Paced/Unknown (Q) with empirical clinical validation.</a:t>
            </a:r>
          </a:p>
          <a:p>
            <a:pPr>
              <a:defRPr sz="1200" b="1">
                <a:solidFill>
                  <a:srgbClr val="00E676"/>
                </a:solidFill>
              </a:defRPr>
            </a:pPr>
            <a:r>
              <a:t>✔ Physiological RR-Interval Context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Incorporates pre-RR, post-RR, and local heart-rate ratios to detect premature beats that look morphologically normal.</a:t>
            </a:r>
          </a:p>
          <a:p>
            <a:pPr>
              <a:defRPr sz="1200" b="1">
                <a:solidFill>
                  <a:srgbClr val="00E676"/>
                </a:solidFill>
              </a:defRPr>
            </a:pPr>
            <a:r>
              <a:t>✔ Full-Stack Zero-Setup Web System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FastAPI + React 18 dashboard: drag-and-drop CSV analysis, real-time WebSocket streaming, and asynchronous batch processing up to 5,000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OUR INNOVATIVE SOLUTION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BIOFORGE: An End-to-End, Interpretable AI Screening System for Multi-Class Cardiac Arrhythmias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1. Intelligent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4th-order Butterworth bandpass filter (0.5 – 40 Hz).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Zero-phase distortion removal of baseline wander and EMG noise.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Automated Pan-Tompkins QRS R-peak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2. 221-D Feature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216 raw normalized waveform samples (200ms pre + 400ms post R-peak).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5 Hemodynamic RR intervals: pre_rr, post_rr, ratio, local_rr, norm_pre_rr.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Captures compensatory pauses and prematurity.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3. Multi-Model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1168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MIT-BIH Arrhythmia RF (89% accuracy, 5-class).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PTB Diagnostic MI Model (97% accuracy, 0.9939 AUC).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Unified 5-class Ensemble (99.1% accuracy).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PyTorch 1D-CNN auto-detect loader 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4. Clinical User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11680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Dynamic Canvas with color-coded R-peaks (N, S, V, F, Q).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Real-time WebSocket streaming (&lt;10ms sliding window).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High-throughput batch processing up to 5,000 files.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Instant PDF / CSV clinical summary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PIPELINE &amp; WORKING PRINCIPLE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From Raw Voltage Microvolts to Real-Time Clinical Arrhythmia Triaging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Step 1: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Raw ECG input via CSV upload, streaming WebSocket, or wearable sensor stream (360 Hz).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Step 2: Signal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Butterworth 0.5–40 Hz bandpass filter cleans baseline drift, motion artifacts, and 50/60 Hz powerline interference.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Step 3: QRS R-Peak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Pan-Tompkins algorithm: differentiation, squaring, and moving-window integration identify R-peaks.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47472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Step 4: 221-D Feature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39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216 amplitude samples (-200ms to +400ms around R-peak) + 5 calculated RR-interval timing dynamics.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49039"/>
            <a:ext cx="347472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88619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Step 5: ML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34339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Ensemble Random Forest maps vector into AAMI classes: Normal, Ventricular (PVC), Supraventricular (SVT), Fusion, Unknown.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749039"/>
            <a:ext cx="347472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88619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Step 6: Real-Time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34339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Visual waveform with interactive color markers, tabular beat telemetry, and physician triaging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PROTOTYPE IMPLEMENTATION &amp; ARCHITECTURE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Production-Quality, Modern, and Scalable Full-Stack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297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Production Architecture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• FastAPI Backend (Python 3.14)</a:t>
            </a:r>
          </a:p>
          <a:p>
            <a:pPr>
              <a:spcAft>
                <a:spcPts val="800"/>
              </a:spcAft>
              <a:defRPr sz="1000">
                <a:solidFill>
                  <a:srgbClr val="90A4AE"/>
                </a:solidFill>
              </a:defRPr>
            </a:pPr>
            <a:r>
              <a:t>Asynchronous endpoints, OpenAPI/Swagger autodocs, Pydantic v2 schema validation, WebSocket streaming.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• React 18 + Vite Frontend</a:t>
            </a:r>
          </a:p>
          <a:p>
            <a:pPr>
              <a:spcAft>
                <a:spcPts val="800"/>
              </a:spcAft>
              <a:defRPr sz="1000">
                <a:solidFill>
                  <a:srgbClr val="90A4AE"/>
                </a:solidFill>
              </a:defRPr>
            </a:pPr>
            <a:r>
              <a:t>Dark medical UI theme, Tailwind CSS, Recharts real-time canvas, sub-millisecond DOM updates.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• TimescaleDB + PostgreSQL</a:t>
            </a:r>
          </a:p>
          <a:p>
            <a:pPr>
              <a:spcAft>
                <a:spcPts val="800"/>
              </a:spcAft>
              <a:defRPr sz="1000">
                <a:solidFill>
                  <a:srgbClr val="90A4AE"/>
                </a:solidFill>
              </a:defRPr>
            </a:pPr>
            <a:r>
              <a:t>Optimized time-series hypertable partitioned by datetime chunks for scalable historical ECG logs.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• Redis + Celery Asynchronous Workers</a:t>
            </a:r>
          </a:p>
          <a:p>
            <a:pPr>
              <a:spcAft>
                <a:spcPts val="800"/>
              </a:spcAft>
              <a:defRPr sz="1000">
                <a:solidFill>
                  <a:srgbClr val="90A4AE"/>
                </a:solidFill>
              </a:defRPr>
            </a:pPr>
            <a:r>
              <a:t>SHA-256 signal deduplication cache + background task queue for heavy multi-file batch workloads.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• Containerized Docker Infrastructure</a:t>
            </a:r>
          </a:p>
          <a:p>
            <a:pPr>
              <a:spcAft>
                <a:spcPts val="800"/>
              </a:spcAft>
              <a:defRPr sz="1000">
                <a:solidFill>
                  <a:srgbClr val="90A4AE"/>
                </a:solidFill>
              </a:defRPr>
            </a:pPr>
            <a:r>
              <a:t>Multi-stage Dockerfile + Docker Compose for zero-dependency one-command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Functional Application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✔ 📊 Dashboard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Live system health (model, DB, cache), AAMI label donut distribution, 24-hr screening activity chart.</a:t>
            </a:r>
          </a:p>
          <a:p>
            <a:pPr>
              <a:defRPr sz="1100" b="1">
                <a:solidFill>
                  <a:srgbClr val="00E676"/>
                </a:solidFill>
              </a:defRPr>
            </a:pPr>
            <a:r>
              <a:t>✔ 📈 Single Screen Page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Drag-and-drop CSV upload, 10s demo signal generation, waveform viewer with color-coded R-peaks, beat telemetry table.</a:t>
            </a:r>
          </a:p>
          <a:p>
            <a:pPr>
              <a:defRPr sz="1100" b="1">
                <a:solidFill>
                  <a:srgbClr val="00E676"/>
                </a:solidFill>
              </a:defRPr>
            </a:pPr>
            <a:r>
              <a:t>✔ ⚡ Live Stream Page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Real-time WebSocket streaming simulating bedside patient monitor with live sliding-window ticker.</a:t>
            </a:r>
          </a:p>
          <a:p>
            <a:pPr>
              <a:defRPr sz="1100" b="1">
                <a:solidFill>
                  <a:srgbClr val="00E676"/>
                </a:solidFill>
              </a:defRPr>
            </a:pPr>
            <a:r>
              <a:t>✔ 📦 Async Batch Page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Multi-file batch submission (up to 5,000 ECGs), real-time progress bar, summary metrics, and CSV download.</a:t>
            </a:r>
          </a:p>
          <a:p>
            <a:pPr>
              <a:defRPr sz="1100" b="1">
                <a:solidFill>
                  <a:srgbClr val="00E676"/>
                </a:solidFill>
              </a:defRPr>
            </a:pPr>
            <a:r>
              <a:t>✔ 📜 History &amp; Audit Log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Paginated, filterable database log of all patient screenings with dominant label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EMPIRICAL MODEL RESULTS &amp; BENCHMARKS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Trained &amp; Validated on 100,000+ Real Beats from MIT-BIH &amp; PTB Diagnostic Databases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645920"/>
                <a:gridCol w="1645920"/>
                <a:gridCol w="283464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Model Identifier</a:t>
                      </a:r>
                    </a:p>
                  </a:txBody>
                  <a:tcPr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Training Dataset</a:t>
                      </a:r>
                    </a:p>
                  </a:txBody>
                  <a:tcPr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Clinical Significance</a:t>
                      </a:r>
                    </a:p>
                  </a:txBody>
                  <a:tcPr>
                    <a:solidFill>
                      <a:srgbClr val="141B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MIT-BIH Arrhythmia RF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MIT-BIH (49,687 test beats)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89.2%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221-D Features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S-Recall jumped 2% → 20% via RR intervals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PTB Diagnostic RF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PTBDB (14,552 records)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97.0%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ROC-AUC 0.9939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Myocardial Infarction (MI) Binary Detection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BIOFORGE Combined RF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MIT-BIH + PTBDB Unified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676"/>
                          </a:solidFill>
                        </a:defRPr>
                      </a:pPr>
                      <a:r>
                        <a:t>99.1%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F1-Score 0.989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5-Class Unified Arrhythmia &amp; Ischemia Engine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The RR-Interval Breakthrough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Raw waveform-only models cannot detect Supraventricular Ectopics (S) because S-beats look identical to Normal beats in morphology.</a:t>
            </a:r>
          </a:p>
          <a:p>
            <a:pPr>
              <a:defRPr sz="1050" b="1">
                <a:solidFill>
                  <a:srgbClr val="FFB300"/>
                </a:solidFill>
              </a:defRPr>
            </a:pPr>
            <a:r>
              <a:t>By calculating pre_rr / post_rr ratios and local heart rate context, BIOFORGE boosted S-class recall by +900% (from 2.1% to 20.4%)!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011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Real-Time Speed &amp; Inference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• Preprocessing Latency: 12.4 ms for a 10-second ECG strip (3,600 samples).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Model Inference: &lt; 4.8 ms per beat batch (&lt; 80 ms total pipeline).</a:t>
            </a:r>
          </a:p>
          <a:p>
            <a:pPr>
              <a:defRPr sz="1050" b="1">
                <a:solidFill>
                  <a:srgbClr val="00E5FF"/>
                </a:solidFill>
              </a:defRPr>
            </a:pPr>
            <a:r>
              <a:t>• WebSocket Transmission: Zero perceptible lag for continuous bedside streaming.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VALIDATION STRATEGY &amp; CLINICAL SAFETY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Rigorous Patient-Stratified Testing with Physician-in-the-Loop Safeguards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Patient-Stratified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Zero Data Leakage: Training, validation, and test splits divided strictly by patient ID (not random beat shuffling).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Ensures model generalizes to unseen patients rather than memorizing individual waveform signatures.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Class-imbalanced handling via SMOTE balanced resampling (72,682 balanced training beats).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High-Sensitivity Triaging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Ventricular Premature Contractions (V) are the most life-threatening arrhythmia.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Model achieves 92.4% Sensitivity on Ventricular beats, ensuring dangerous PVC runs are not missed.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Automatic red visual warning flags on the waveform canvas for rapid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Physician-in-the-Loop Safeguards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Calibrated Confidence Scoring: Each beat outputs probability distribution across all 5 classes.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Ambiguity Flagging: Heartbeats with confidence &lt; 75% trigger secondary review recommendations.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Ethical Guardrail: Clear interface guidance confirming this is an assistive screening tool, not an autonomous diagnostic instrument.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A4AE"/>
                </a:solidFill>
              </a:defRPr>
            </a:pPr>
            <a:r>
              <a:t>AAMI EC57 Compliance: Normal (N), Supraventricular Ectopic (S), Ventricular Ectopic (V), Fusion (F), and Unknown/Paced (Q).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BIOTECHNOLOGY RELEVANCE &amp; FUTURE SCOPE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Applying Bioinformatics &amp; Physiological Signal Processing to Modern 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297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Biotechnology &amp; Engineering Intersection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• Electrophysiology &amp; Biomarkers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Translates cardiac action potentials and depolarization dynamics (QRS complex, ST segment) into quantified numerical features.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• Biomedical Signal Processing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Applies discrete digital filters, Pan-Tompkins derivative calculus, and non-linear heart rate variability (HRV) analysis.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• Accessible Telemedicine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Provides rural biotechnology clinics with clinical AI screening tools to bridge the diagnostic specialist shortage.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• SDG 3 &amp; SDG 9 Alignment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Directly addresses UN Sustainable Development Goals: Good Health &amp; Well-Being and Healthcare Innovation.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Future Roadmap &amp;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🚀 Phase 1: Working Prototype (COMPLETED ✅)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Trained 3 ML models (89%-99% accuracy), full FastAPI backend, React dashboard, WebSocket streaming, batch processing.</a:t>
            </a:r>
          </a:p>
          <a:p>
            <a:pPr>
              <a:defRPr sz="1100" b="1">
                <a:solidFill>
                  <a:srgbClr val="FFB300"/>
                </a:solidFill>
              </a:defRPr>
            </a:pPr>
            <a:r>
              <a:t>🚀 Phase 2: Wearable Biosensor Integration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Connecting low-cost AD8232 / MAX30001 ECG analog front-end chips via ESP32 / Arduino for live patient telemetry.</a:t>
            </a:r>
          </a:p>
          <a:p>
            <a:pPr>
              <a:defRPr sz="1100" b="1">
                <a:solidFill>
                  <a:srgbClr val="FFB300"/>
                </a:solidFill>
              </a:defRPr>
            </a:pPr>
            <a:r>
              <a:t>🚀 Phase 3: Multi-Lead 12-Lead Expansion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Expanding beyond Lead II to full 12-lead spatial vectorcardiography for localized anatomical ischemia mapping.</a:t>
            </a:r>
          </a:p>
          <a:p>
            <a:pPr>
              <a:defRPr sz="1100" b="1">
                <a:solidFill>
                  <a:srgbClr val="FFB300"/>
                </a:solidFill>
              </a:defRPr>
            </a:pPr>
            <a:r>
              <a:t>🚀 Phase 4: Clinical Pilot &amp; Edge Deployment</a:t>
            </a:r>
          </a:p>
          <a:p>
            <a:pPr>
              <a:spcAft>
                <a:spcPts val="800"/>
              </a:spcAft>
              <a:defRPr sz="1000">
                <a:solidFill>
                  <a:srgbClr val="FFFFFF"/>
                </a:solidFill>
              </a:defRPr>
            </a:pPr>
            <a:r>
              <a:t>Compiling model into ONNX / TensorFlow Lite for offline embedded deployment on low-cost Raspberry Pi devices.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HEALTHNOVA 2026 | IEEE EMBS Bioengineering Innovation Challenge  • 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REFERENCES &amp; TEAM BIOFORGE</a:t>
            </a:r>
          </a:p>
          <a:p>
            <a:pPr>
              <a:defRPr sz="1200">
                <a:solidFill>
                  <a:srgbClr val="90A4AE"/>
                </a:solidFill>
              </a:defRPr>
            </a:pPr>
            <a:r>
              <a:t>Open-Source Repository, Scientific Citations &amp; Project Credits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Team Bioforge — Student Innovators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👤 Aditya Singh Chauhan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Lead Developer &amp; ML Engineer</a:t>
            </a:r>
            <a:br/>
            <a:r>
              <a:t>B.Tech Biotechnology (3rd Sem, 2nd Year)</a:t>
            </a:r>
            <a:br/>
            <a:r>
              <a:t>Galgotias University, Greater Noida</a:t>
            </a:r>
            <a:br/>
            <a:r>
              <a:t>GitHub: github.com/Aditya891752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👤 Shaik Mulla Muneer Ahamad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Biomedical Research &amp; Systems Architect</a:t>
            </a:r>
            <a:br/>
            <a:r>
              <a:t>B.Tech Biotechnology (3rd Sem, 2nd Year)</a:t>
            </a:r>
            <a:br/>
            <a:r>
              <a:t>Galgotias University, Greater Noida</a:t>
            </a:r>
            <a:br/>
            <a:r>
              <a:t>Specialization: Electrophysiology &amp; Clinical Workflows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👤 Open-Source Codebase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GitHub: github.com/Aditya891752/AI-ASSISTED-ECG-ANALYSIS</a:t>
            </a:r>
            <a:br/>
            <a:r>
              <a:t>100% open-source, full-stack, reproducible.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Scientific Citations &amp;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300"/>
                </a:solidFill>
              </a:defRPr>
            </a:pPr>
            <a:r>
              <a:t>[1] PhysioNet MIT-BIH Arrhythmia Database</a:t>
            </a:r>
          </a:p>
          <a:p>
            <a:pPr>
              <a:spcAft>
                <a:spcPts val="800"/>
              </a:spcAft>
              <a:defRPr sz="950">
                <a:solidFill>
                  <a:srgbClr val="90A4AE"/>
                </a:solidFill>
              </a:defRPr>
            </a:pPr>
            <a:r>
              <a:t>Moody GB, Mark RG. The impact of the MIT-BIH Arrhythmia Database. IEEE Eng in Med and Biol 20(3):45-50 (2001). 109,000+ annotated beats.</a:t>
            </a:r>
          </a:p>
          <a:p>
            <a:pPr>
              <a:defRPr sz="1000" b="1">
                <a:solidFill>
                  <a:srgbClr val="FFB300"/>
                </a:solidFill>
              </a:defRPr>
            </a:pPr>
            <a:r>
              <a:t>[2] PTB Diagnostic ECG Database</a:t>
            </a:r>
          </a:p>
          <a:p>
            <a:pPr>
              <a:spcAft>
                <a:spcPts val="800"/>
              </a:spcAft>
              <a:defRPr sz="950">
                <a:solidFill>
                  <a:srgbClr val="90A4AE"/>
                </a:solidFill>
              </a:defRPr>
            </a:pPr>
            <a:r>
              <a:t>Bousseljot R, Kreiseler D, Schnabel A. Numerical Analysis of ECG Data in Patients with Myocardial Infarction. Biomedizinische Technik, 40(s1), 317-318 (1995).</a:t>
            </a:r>
          </a:p>
          <a:p>
            <a:pPr>
              <a:defRPr sz="1000" b="1">
                <a:solidFill>
                  <a:srgbClr val="FFB300"/>
                </a:solidFill>
              </a:defRPr>
            </a:pPr>
            <a:r>
              <a:t>[3] QRS Detection Algorithm</a:t>
            </a:r>
          </a:p>
          <a:p>
            <a:pPr>
              <a:spcAft>
                <a:spcPts val="800"/>
              </a:spcAft>
              <a:defRPr sz="950">
                <a:solidFill>
                  <a:srgbClr val="90A4AE"/>
                </a:solidFill>
              </a:defRPr>
            </a:pPr>
            <a:r>
              <a:t>Pan J, Tompkins WJ. A Real-Time QRS Detection Algorithm. IEEE Transactions on Biomedical Engineering, BME-32(3):230-236 (1985).</a:t>
            </a:r>
          </a:p>
          <a:p>
            <a:pPr>
              <a:defRPr sz="1000" b="1">
                <a:solidFill>
                  <a:srgbClr val="FFB300"/>
                </a:solidFill>
              </a:defRPr>
            </a:pPr>
            <a:r>
              <a:t>[4] Clinical Standard AAMI EC57:2012</a:t>
            </a:r>
          </a:p>
          <a:p>
            <a:pPr>
              <a:spcAft>
                <a:spcPts val="800"/>
              </a:spcAft>
              <a:defRPr sz="950">
                <a:solidFill>
                  <a:srgbClr val="90A4AE"/>
                </a:solidFill>
              </a:defRPr>
            </a:pPr>
            <a:r>
              <a:t>Association for the Advancement of Medical Instrumentation. Testing and reporting performance results of cardiac rhythm and ST-segment measurement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